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тарт" id="{5ABC5101-C9C9-206C-FAD0-55A144C2E208}">
          <p14:sldIdLst>
            <p14:sldId id="256"/>
            <p14:sldId id="257"/>
          </p14:sldIdLst>
        </p14:section>
        <p14:section name="Проблема" id="{77CBC6F1-F56F-383E-EB4C-7494B049F9AB}">
          <p14:sldIdLst>
            <p14:sldId id="258"/>
            <p14:sldId id="259"/>
          </p14:sldIdLst>
        </p14:section>
        <p14:section name="Решение" id="{B5793D45-670B-1E7C-BD19-C730F7EBF643}">
          <p14:sldIdLst>
            <p14:sldId id="260"/>
            <p14:sldId id="261"/>
            <p14:sldId id="262"/>
            <p14:sldId id="263"/>
            <p14:sldId id="264"/>
          </p14:sldIdLst>
        </p14:section>
        <p14:section name="Бизнес" id="{028F6438-0B3C-8DA4-28D0-EC6687F15A33}">
          <p14:sldIdLst>
            <p14:sldId id="265"/>
            <p14:sldId id="266"/>
          </p14:sldIdLst>
        </p14:section>
        <p14:section name="Итог" id="{746CBE77-58C5-AD6A-8B5C-9DA2755367B2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217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SteppeInvoice: один счёт в Solana, и все участники получают свою долю в момент оплаты. На слайде как раз такой платёж: 84% исполнителю, 15% напарнику, 1% сервису.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начал этот проект, чтобы проверить свои силы. Но очень увлёкся и решил по-настоящему понять: есть ли тут проблема? Первое, что мне сказали: зачем это всё, можно просто отправить адрес кошелька Phantom. И это правда. Для перевода. Поэтому я стал смотреть не на сам перевод, а на то, что происходит с фрилансером после него.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Исполнителю нужен не перевод, а процесс. Работаете вдвоём — значит, надо поделить деньги, и это отдельный перевод с двойной комиссией и доверием на слово. Хочется знать, что заплатили. Клиенту нужен документ для отчётности, а не скриншот. И налоги: по какому режиму, по какому курсу, к какому сроку.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первого января 2026 в Казахстане новый Налоговый кодекс, спецрежимов осталось три. По данным Минфина на март: 346 тысяч человек выбрали режим самозанятого, из них 265 тысяч вышли из тени, и 1,2 миллиона предпринимателей выбрали упрощённую декларацию. Честная оговорка: это весь рынок самозанятых и ИП, а не число тех, кто получает крипту. Эту долю ещё предстоит измерить.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Отвечу на главное возражение. Если заказчик в крипте и вы работаете один, адрес кошелька действительно достаточен. SteppeInvoice нужен тем, кому нужно поделить деньги с напарником, получить уведомление, дать клиенту документ и посчитать налог: всё это делает одна ссылка.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Создаёте счёт, отправляете красивую ссылку, клиент платит из Phantom: первый раз с подсказками на странице, затем в один клик, контракт делит деньги в одной транзакции, а вам приходят уведомление в Telegram и документ. Сервис никогда не держит деньги: если один из переводов не прошёл, не списывается ничего.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реальные экраны. Слева страница оплаты: клиент видит название, сумму и распределение денег. Справа акт выполненных работ на основе формы Р-1 с QR-печатью, на русском, казахском и английском. Всё работает в тестовой сети Solana, демо-данные.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Telegram-бот: нажимаете «Попробовать в тестовой сети», бот создаёт счёт, оплачивает его как демо-клиент, и приходит уведомление с актом. Справа страница «Финансы»: доходы из блокчейна и записи вручную, оценка налога по режиму самозанятого или ИП на упрощёнке и ближайшие сроки. Это оценка, а не налоговая консультация, и так написано в интерфейсе.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реальный барьер, и я говорю о нём сам. Что я сделал: инструкция в четыре шага открывается прямо со страницы оплаты. Один раз потратить десять минут, дальше любой счёт оплачивается в один клик. Оплату картой напрямую я добавлять не буду осознанно: платёжные системы берут свой процент и становятся посредником между клиентом и исполнителем. Идея в том, чтобы деньги шли напрямую, а наша комиссия была понятной: 1%. Комиссию за покупку SOL Phantom показывает до подтверждения, она не наша.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зарабатываю один процент с оплаченного счёта. Не оплатили, значит, ничего не платят. Подписок нет. Комиссия уходит в момент оплаты и видна клиенту и исполнителю. Сейчас её выставляет сайт, зашить её в контракт — задача до основной сети. Затраты почти не растут с объёмом: сеть берёт доли цента. Дальше возможны платный тариф «Финансы», интеграции и USDC, но это гипотезы, а не факты. Риски назову сразу: оборот пока тестовый, доход зависит от размера среднего счёта, а по закону Казахстана криптовалюта не средство платежа, поэтому до реальных платежей нужно заключение юриста.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аудитория: фрилансеры, IT-аутсорс и небольшие команды в Казахстане, которые получают оплату в крипте и делят её с напарниками. Данные Минфина дают потолок рынка, но не конкретную долю. Привлечение: каждый отправленный счёт показывает продукт новому клиенту через ссылку с превью и кнопкой; Telegram как привычный вход; сообщества Solana и Superteam; интерфейс на трёх языках. Дальше Узбекистан и Кыргызстан.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работает: смарт-контракт с атомарным сплитом, сайт на трёх языках, Telegram-бот с демо за один тап, акт с QR-печатью, раздел Финансы и налоги, тридцать четыре автотеста. Всё это в тестовой сети. Дальше: основная сеть, комиссия на уровне контракта, чтобы её нельзя было обойти, оплата в USDC, заключение юриста и независимый аудит.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покажу за минуту: в боте нажимаю «Попробовать в тестовой сети», бот создаёт счёт, оплачивает его как демо-клиент, и мне приходит уведомление с актом. Всё работает уже сегодня. Спасибо.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88036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SteppeInvoice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bg1"/>
                </a:solidFill>
              </a:rPr>
              <a:t>SteppeInvoice</a:t>
            </a:r>
            <a:endParaRPr lang="en-US" sz="6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880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accent1"/>
                </a:solidFill>
              </a:rPr>
              <a:t>Один </a:t>
            </a:r>
            <a:r>
              <a:rPr lang="en-US" sz="3000" dirty="0" err="1">
                <a:solidFill>
                  <a:schemeClr val="accent1"/>
                </a:solidFill>
              </a:rPr>
              <a:t>счёт</a:t>
            </a:r>
            <a:r>
              <a:rPr lang="en-US" sz="3000" dirty="0">
                <a:solidFill>
                  <a:schemeClr val="accent1"/>
                </a:solidFill>
              </a:rPr>
              <a:t> - все получают свою долю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Счета в Solana для фрилансеров и команд Центральной Азии</a:t>
            </a:r>
            <a:endParaRPr lang="en-US" sz="1800" dirty="0"/>
          </a:p>
        </p:txBody>
      </p:sp>
      <p:sp>
        <p:nvSpPr>
          <p:cNvPr id="5" name="split-you"/>
          <p:cNvSpPr/>
          <p:nvPr/>
        </p:nvSpPr>
        <p:spPr>
          <a:xfrm>
            <a:off x="822960" y="4754880"/>
            <a:ext cx="8833104" cy="4572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" name="split-partner"/>
          <p:cNvSpPr/>
          <p:nvPr/>
        </p:nvSpPr>
        <p:spPr>
          <a:xfrm>
            <a:off x="9656064" y="4754880"/>
            <a:ext cx="1577340" cy="45720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" name="split-fee"/>
          <p:cNvSpPr/>
          <p:nvPr/>
        </p:nvSpPr>
        <p:spPr>
          <a:xfrm>
            <a:off x="11233404" y="4754880"/>
            <a:ext cx="105156" cy="45720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349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Вы · 84%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07424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chemeClr val="accent3"/>
                </a:solidFill>
              </a:rPr>
              <a:t>Напарник · 15%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875520" y="5715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chemeClr val="accent2"/>
                </a:solidFill>
              </a:rPr>
              <a:t>Сервис · 1%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Omargaly Bitebayev  ·  Solana Superteam Hackathon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Я начал проект, чтобы проверить свои силы</a:t>
            </a:r>
            <a:endParaRPr lang="en-US" sz="3200" dirty="0"/>
          </a:p>
        </p:txBody>
      </p:sp>
      <p:sp>
        <p:nvSpPr>
          <p:cNvPr id="4" name="story-1"/>
          <p:cNvSpPr/>
          <p:nvPr/>
        </p:nvSpPr>
        <p:spPr>
          <a:xfrm>
            <a:off x="548640" y="17830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</p:sp>
      <p:sp>
        <p:nvSpPr>
          <p:cNvPr id="5" name="badge-rocket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</p:sp>
      <p:pic>
        <p:nvPicPr>
          <p:cNvPr id="6" name="Image 0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2297430"/>
            <a:ext cx="388620" cy="3886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3063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Проверить свои силы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886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Собрать рабочий продукт на Solana от контракта до интерфейса</a:t>
            </a:r>
            <a:endParaRPr lang="en-US" sz="1500" dirty="0"/>
          </a:p>
        </p:txBody>
      </p:sp>
      <p:sp>
        <p:nvSpPr>
          <p:cNvPr id="9" name="story-2"/>
          <p:cNvSpPr/>
          <p:nvPr/>
        </p:nvSpPr>
        <p:spPr>
          <a:xfrm>
            <a:off x="4358488" y="17830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</p:sp>
      <p:sp>
        <p:nvSpPr>
          <p:cNvPr id="10" name="badge-search"/>
          <p:cNvSpPr/>
          <p:nvPr/>
        </p:nvSpPr>
        <p:spPr>
          <a:xfrm>
            <a:off x="4678528" y="2103120"/>
            <a:ext cx="777240" cy="77724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</p:sp>
      <p:pic>
        <p:nvPicPr>
          <p:cNvPr id="11" name="Image 1" descr="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838" y="2297430"/>
            <a:ext cx="388620" cy="3886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78528" y="3063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Понять, есть ли проблема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678528" y="3886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Выяснить, нужен ли он кому-то, кроме меня</a:t>
            </a:r>
            <a:endParaRPr lang="en-US" sz="1500" dirty="0"/>
          </a:p>
        </p:txBody>
      </p:sp>
      <p:sp>
        <p:nvSpPr>
          <p:cNvPr id="14" name="story-3"/>
          <p:cNvSpPr/>
          <p:nvPr/>
        </p:nvSpPr>
        <p:spPr>
          <a:xfrm>
            <a:off x="8168335" y="17830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</p:sp>
      <p:sp>
        <p:nvSpPr>
          <p:cNvPr id="15" name="badge-wallet"/>
          <p:cNvSpPr/>
          <p:nvPr/>
        </p:nvSpPr>
        <p:spPr>
          <a:xfrm>
            <a:off x="8488375" y="2103120"/>
            <a:ext cx="777240" cy="77724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</p:sp>
      <p:pic>
        <p:nvPicPr>
          <p:cNvPr id="16" name="Image 2" descr="wall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685" y="229743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88375" y="3063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Услышать честное «зачем?»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488375" y="3886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«Просто отправь адрес Phantom». И это правда, но только для перевода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212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Поэтому я стал смотреть на то, что происходит с фрилансером после перевода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Перевод — это только начало</a:t>
            </a:r>
            <a:endParaRPr lang="en-US" sz="3200" dirty="0"/>
          </a:p>
        </p:txBody>
      </p:sp>
      <p:sp>
        <p:nvSpPr>
          <p:cNvPr id="4" name="pain-1"/>
          <p:cNvSpPr/>
          <p:nvPr/>
        </p:nvSpPr>
        <p:spPr>
          <a:xfrm>
            <a:off x="548640" y="1691640"/>
            <a:ext cx="5387188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5" name="badge-users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4003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57400" y="2057400"/>
            <a:ext cx="355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Деньги надо делить вручную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2057400" y="2606040"/>
            <a:ext cx="3558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Доля напарника уходит отдельным переводом: двойная комиссия и доверие на слово</a:t>
            </a:r>
            <a:endParaRPr lang="en-US" sz="1600" dirty="0"/>
          </a:p>
        </p:txBody>
      </p:sp>
      <p:sp>
        <p:nvSpPr>
          <p:cNvPr id="9" name="pain-2"/>
          <p:cNvSpPr/>
          <p:nvPr/>
        </p:nvSpPr>
        <p:spPr>
          <a:xfrm>
            <a:off x="6255868" y="1691640"/>
            <a:ext cx="5387188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0" name="badge-bell"/>
          <p:cNvSpPr/>
          <p:nvPr/>
        </p:nvSpPr>
        <p:spPr>
          <a:xfrm>
            <a:off x="6621628" y="2194560"/>
            <a:ext cx="822960" cy="82296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be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368" y="24003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64628" y="2057400"/>
            <a:ext cx="355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Не знаешь, оплатили ли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7764628" y="2606040"/>
            <a:ext cx="3558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Приходится обновлять обозреватель блокчейна и ждать</a:t>
            </a:r>
            <a:endParaRPr lang="en-US" sz="1600" dirty="0"/>
          </a:p>
        </p:txBody>
      </p:sp>
      <p:sp>
        <p:nvSpPr>
          <p:cNvPr id="14" name="pain-3"/>
          <p:cNvSpPr/>
          <p:nvPr/>
        </p:nvSpPr>
        <p:spPr>
          <a:xfrm>
            <a:off x="548640" y="4023360"/>
            <a:ext cx="5387188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5" name="badge-file"/>
          <p:cNvSpPr/>
          <p:nvPr/>
        </p:nvSpPr>
        <p:spPr>
          <a:xfrm>
            <a:off x="914400" y="4526280"/>
            <a:ext cx="822960" cy="82296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fi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47320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057400" y="4389120"/>
            <a:ext cx="355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Нечего приложить к отчёту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2057400" y="4937760"/>
            <a:ext cx="3558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Есть скриншот транзакции, но нет акта для бухгалтера</a:t>
            </a:r>
            <a:endParaRPr lang="en-US" sz="1600" dirty="0"/>
          </a:p>
        </p:txBody>
      </p:sp>
      <p:sp>
        <p:nvSpPr>
          <p:cNvPr id="19" name="pain-4"/>
          <p:cNvSpPr/>
          <p:nvPr/>
        </p:nvSpPr>
        <p:spPr>
          <a:xfrm>
            <a:off x="6255868" y="4023360"/>
            <a:ext cx="5387188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20" name="badge-calc"/>
          <p:cNvSpPr/>
          <p:nvPr/>
        </p:nvSpPr>
        <p:spPr>
          <a:xfrm>
            <a:off x="6621628" y="4526280"/>
            <a:ext cx="822960" cy="82296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cal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7368" y="47320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764628" y="4389120"/>
            <a:ext cx="355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Налог считаешь сам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7764628" y="4937760"/>
            <a:ext cx="3558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По курсу на дату получения, по своему режиму и к своему сроку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Люди в Казахстане начали считать налоги</a:t>
            </a:r>
            <a:endParaRPr lang="en-US" sz="3200" dirty="0"/>
          </a:p>
        </p:txBody>
      </p:sp>
      <p:sp>
        <p:nvSpPr>
          <p:cNvPr id="4" name="stat-1"/>
          <p:cNvSpPr/>
          <p:nvPr/>
        </p:nvSpPr>
        <p:spPr>
          <a:xfrm>
            <a:off x="548640" y="1737360"/>
            <a:ext cx="5387188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2011680"/>
            <a:ext cx="44727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346 тыс.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3200400"/>
            <a:ext cx="44727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человек выбрали режим самозанятого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4023360"/>
            <a:ext cx="44727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из них 265 тыс. «вышли из тени»</a:t>
            </a:r>
            <a:endParaRPr lang="en-US" sz="1600" dirty="0"/>
          </a:p>
        </p:txBody>
      </p:sp>
      <p:sp>
        <p:nvSpPr>
          <p:cNvPr id="8" name="stat-2"/>
          <p:cNvSpPr/>
          <p:nvPr/>
        </p:nvSpPr>
        <p:spPr>
          <a:xfrm>
            <a:off x="6255868" y="1737360"/>
            <a:ext cx="5387188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13068" y="2011680"/>
            <a:ext cx="44727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1,2 млн</a:t>
            </a:r>
            <a:endParaRPr lang="en-US" sz="6600" dirty="0"/>
          </a:p>
        </p:txBody>
      </p:sp>
      <p:sp>
        <p:nvSpPr>
          <p:cNvPr id="10" name="Text 7"/>
          <p:cNvSpPr txBox="1"/>
          <p:nvPr/>
        </p:nvSpPr>
        <p:spPr>
          <a:xfrm>
            <a:off x="6713068" y="3200400"/>
            <a:ext cx="44727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предпринимателей выбрали упрощённую декларацию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713068" y="4023360"/>
            <a:ext cx="44727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нужны взносы, отчёты и сроки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С 1 января 2026 действует новый Налоговый кодекс: спецрежимов осталось три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Источник: Минфин РК, по данным kapital.kz, 4 марта 2026. Это весь рынок самозанятых и ИП, а не число тех, кто получает крипту.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Адрес — это перевод. Счёт — это процесс</a:t>
            </a:r>
            <a:endParaRPr lang="en-US" sz="3200" dirty="0"/>
          </a:p>
        </p:txBody>
      </p:sp>
      <p:graphicFrame>
        <p:nvGraphicFramePr>
          <p:cNvPr id="6" name="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41148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</a:rPr>
                        <a:t>Просто адрес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SteppeInvoice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Деньги коллеге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Делите вручную, комиссия дважды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Делятся сами в момент оплаты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Узнать об оплате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Обновляете обозреватель блокчейна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Уведомление в Telegram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Документ клиенту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Скриншот транзакции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Акт на RU, KZ, EN с QR-печатью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Налоги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Считаете сами по курсу на дату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Сумма в тенге, оценка налога, сроки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Что видит клиент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Строка из 44 символов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Карточка с названием, суммой и кнопкой</a:t>
                      </a:r>
                      <a:endParaRPr lang="en-US" sz="1600" dirty="0"/>
                    </a:p>
                  </a:txBody>
                  <a:tcPr marL="182880" marR="182880" anchor="ctr">
                    <a:lnL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Как это работает</a:t>
            </a:r>
            <a:endParaRPr lang="en-US" sz="3200" dirty="0"/>
          </a:p>
        </p:txBody>
      </p:sp>
      <p:sp>
        <p:nvSpPr>
          <p:cNvPr id="4" name="flow-1"/>
          <p:cNvSpPr/>
          <p:nvPr/>
        </p:nvSpPr>
        <p:spPr>
          <a:xfrm>
            <a:off x="548640" y="178308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5" name="step-1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Создайте счёт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Услуга, сумма, заказчик и напарник</a:t>
            </a:r>
            <a:endParaRPr lang="en-US" sz="1400" dirty="0"/>
          </a:p>
        </p:txBody>
      </p:sp>
      <p:sp>
        <p:nvSpPr>
          <p:cNvPr id="9" name="flow-2"/>
          <p:cNvSpPr/>
          <p:nvPr/>
        </p:nvSpPr>
        <p:spPr>
          <a:xfrm>
            <a:off x="2819324" y="178308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0" name="step-2"/>
          <p:cNvSpPr/>
          <p:nvPr/>
        </p:nvSpPr>
        <p:spPr>
          <a:xfrm>
            <a:off x="3093644" y="2057400"/>
            <a:ext cx="594360" cy="59436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093644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093644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Отправьте ссылку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093644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Telegram, WhatsApp, X: с превью и кнопкой</a:t>
            </a:r>
            <a:endParaRPr lang="en-US" sz="1400" dirty="0"/>
          </a:p>
        </p:txBody>
      </p:sp>
      <p:sp>
        <p:nvSpPr>
          <p:cNvPr id="14" name="flow-3"/>
          <p:cNvSpPr/>
          <p:nvPr/>
        </p:nvSpPr>
        <p:spPr>
          <a:xfrm>
            <a:off x="5090008" y="178308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5" name="step-3"/>
          <p:cNvSpPr/>
          <p:nvPr/>
        </p:nvSpPr>
        <p:spPr>
          <a:xfrm>
            <a:off x="5364328" y="2057400"/>
            <a:ext cx="594360" cy="59436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364328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364328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Клиент платит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364328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Первый раз с подсказками, затем один клик</a:t>
            </a:r>
            <a:endParaRPr lang="en-US" sz="1400" dirty="0"/>
          </a:p>
        </p:txBody>
      </p:sp>
      <p:sp>
        <p:nvSpPr>
          <p:cNvPr id="19" name="flow-4"/>
          <p:cNvSpPr/>
          <p:nvPr/>
        </p:nvSpPr>
        <p:spPr>
          <a:xfrm>
            <a:off x="7360691" y="178308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20" name="step-4"/>
          <p:cNvSpPr/>
          <p:nvPr/>
        </p:nvSpPr>
        <p:spPr>
          <a:xfrm>
            <a:off x="7635011" y="2057400"/>
            <a:ext cx="594360" cy="59436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7635011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635011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Контракт делит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635011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Вам, напарнику и сервису в одной транзакции</a:t>
            </a:r>
            <a:endParaRPr lang="en-US" sz="1400" dirty="0"/>
          </a:p>
        </p:txBody>
      </p:sp>
      <p:sp>
        <p:nvSpPr>
          <p:cNvPr id="24" name="flow-5"/>
          <p:cNvSpPr/>
          <p:nvPr/>
        </p:nvSpPr>
        <p:spPr>
          <a:xfrm>
            <a:off x="9631375" y="178308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25" name="step-5"/>
          <p:cNvSpPr/>
          <p:nvPr/>
        </p:nvSpPr>
        <p:spPr>
          <a:xfrm>
            <a:off x="9905695" y="2057400"/>
            <a:ext cx="594360" cy="59436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9905695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905695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Акт и уведомление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905695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Сообщение в Telegram и документ с QR</a:t>
            </a:r>
            <a:endParaRPr lang="en-US" sz="1400" dirty="0"/>
          </a:p>
        </p:txBody>
      </p:sp>
      <p:sp>
        <p:nvSpPr>
          <p:cNvPr id="29" name="non-custodial"/>
          <p:cNvSpPr/>
          <p:nvPr/>
        </p:nvSpPr>
        <p:spPr>
          <a:xfrm>
            <a:off x="548640" y="4983480"/>
            <a:ext cx="11094415" cy="8229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914400" y="49834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Некастодиально: сервис не держит деньги. Если один перевод не прошёл, не списывается ничего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Рабочий продукт: от счёта до акта</a:t>
            </a:r>
            <a:endParaRPr lang="en-US" sz="3200" dirty="0"/>
          </a:p>
        </p:txBody>
      </p:sp>
      <p:sp>
        <p:nvSpPr>
          <p:cNvPr id="4" name="frame-pay"/>
          <p:cNvSpPr/>
          <p:nvPr/>
        </p:nvSpPr>
        <p:spPr>
          <a:xfrm>
            <a:off x="493776" y="1636776"/>
            <a:ext cx="3198219" cy="3675888"/>
          </a:xfrm>
          <a:prstGeom prst="roundRect">
            <a:avLst>
              <a:gd name="adj" fmla="val 2287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5" name="Image 0" descr="Страница оплаты счёта: сумма, сплит, кнопка акт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3088491" cy="3566160"/>
          </a:xfrm>
          <a:prstGeom prst="rect">
            <a:avLst/>
          </a:prstGeom>
        </p:spPr>
      </p:pic>
      <p:sp>
        <p:nvSpPr>
          <p:cNvPr id="6" name="frame-act"/>
          <p:cNvSpPr/>
          <p:nvPr/>
        </p:nvSpPr>
        <p:spPr>
          <a:xfrm>
            <a:off x="3902307" y="1636776"/>
            <a:ext cx="4982455" cy="3675888"/>
          </a:xfrm>
          <a:prstGeom prst="roundRect">
            <a:avLst>
              <a:gd name="adj" fmla="val 1990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7" name="Image 1" descr="Акт выполненных работ с таблицей и итого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171" y="1691640"/>
            <a:ext cx="4872727" cy="35661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5440680"/>
            <a:ext cx="3088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Страница оплаты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3957171" y="5440680"/>
            <a:ext cx="48727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Акт выполненных работ (RU, KZ, EN)</a:t>
            </a:r>
            <a:endParaRPr lang="en-US" sz="1400" dirty="0"/>
          </a:p>
        </p:txBody>
      </p:sp>
      <p:sp>
        <p:nvSpPr>
          <p:cNvPr id="10" name="badge-check"/>
          <p:cNvSpPr/>
          <p:nvPr/>
        </p:nvSpPr>
        <p:spPr>
          <a:xfrm>
            <a:off x="9195658" y="1691640"/>
            <a:ext cx="548640" cy="54864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2818" y="18288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195658" y="2331720"/>
            <a:ext cx="24473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Счёт подписывается кошельком и пишется в сеть</a:t>
            </a:r>
            <a:endParaRPr lang="en-US" sz="1400" dirty="0"/>
          </a:p>
        </p:txBody>
      </p:sp>
      <p:sp>
        <p:nvSpPr>
          <p:cNvPr id="13" name="badge-bolt"/>
          <p:cNvSpPr/>
          <p:nvPr/>
        </p:nvSpPr>
        <p:spPr>
          <a:xfrm>
            <a:off x="9195658" y="2926080"/>
            <a:ext cx="548640" cy="54864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14" name="Image 3" descr="bo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2818" y="306324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195658" y="3566160"/>
            <a:ext cx="24473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Оплата кошельком, сплит в одной транзакции</a:t>
            </a:r>
            <a:endParaRPr lang="en-US" sz="1400" dirty="0"/>
          </a:p>
        </p:txBody>
      </p:sp>
      <p:sp>
        <p:nvSpPr>
          <p:cNvPr id="16" name="badge-file"/>
          <p:cNvSpPr/>
          <p:nvPr/>
        </p:nvSpPr>
        <p:spPr>
          <a:xfrm>
            <a:off x="9195658" y="4160520"/>
            <a:ext cx="548640" cy="54864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17" name="Image 4" descr="fi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2818" y="429768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9195658" y="4800600"/>
            <a:ext cx="24473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Акт на основе Р-1 готов к печати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Демо-данные в тестовой сети Solana (devnet)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Telegram-бот и налоги в одном месте</a:t>
            </a:r>
            <a:endParaRPr lang="en-US" sz="3200" dirty="0"/>
          </a:p>
        </p:txBody>
      </p:sp>
      <p:sp>
        <p:nvSpPr>
          <p:cNvPr id="4" name="chat"/>
          <p:cNvSpPr/>
          <p:nvPr/>
        </p:nvSpPr>
        <p:spPr>
          <a:xfrm>
            <a:off x="548640" y="1645920"/>
            <a:ext cx="475488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</p:sp>
      <p:sp>
        <p:nvSpPr>
          <p:cNvPr id="5" name="bubble"/>
          <p:cNvSpPr/>
          <p:nvPr/>
        </p:nvSpPr>
        <p:spPr>
          <a:xfrm>
            <a:off x="822960" y="1920240"/>
            <a:ext cx="4206240" cy="11430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20574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Демо-счёт готов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«Демо: дизайн приложения» — 0.01 SOL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84% вам, 15% напарнику, 1% сервису</a:t>
            </a:r>
            <a:endParaRPr lang="en-US" sz="1400" dirty="0"/>
          </a:p>
        </p:txBody>
      </p:sp>
      <p:sp>
        <p:nvSpPr>
          <p:cNvPr id="7" name="bot-button"/>
          <p:cNvSpPr/>
          <p:nvPr/>
        </p:nvSpPr>
        <p:spPr>
          <a:xfrm>
            <a:off x="822960" y="3154680"/>
            <a:ext cx="4206240" cy="420624"/>
          </a:xfrm>
          <a:prstGeom prst="roundRect">
            <a:avLst>
              <a:gd name="adj" fmla="val 2173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1546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Оплатить как демо-клиент</a:t>
            </a:r>
            <a:endParaRPr lang="en-US" sz="1400" dirty="0"/>
          </a:p>
        </p:txBody>
      </p:sp>
      <p:sp>
        <p:nvSpPr>
          <p:cNvPr id="9" name="bubble"/>
          <p:cNvSpPr/>
          <p:nvPr/>
        </p:nvSpPr>
        <p:spPr>
          <a:xfrm>
            <a:off x="822960" y="3886200"/>
            <a:ext cx="4206240" cy="11430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4023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Оплачено!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«Демо: дизайн приложения» — 0.01 SOL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Вам: 0.0084 SOL</a:t>
            </a:r>
            <a:endParaRPr lang="en-US" sz="1400" dirty="0"/>
          </a:p>
        </p:txBody>
      </p:sp>
      <p:sp>
        <p:nvSpPr>
          <p:cNvPr id="11" name="bot-button"/>
          <p:cNvSpPr/>
          <p:nvPr/>
        </p:nvSpPr>
        <p:spPr>
          <a:xfrm>
            <a:off x="822960" y="5120640"/>
            <a:ext cx="4206240" cy="420624"/>
          </a:xfrm>
          <a:prstGeom prst="roundRect">
            <a:avLst>
              <a:gd name="adj" fmla="val 2173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1206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Акт выполненных работ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669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Бот @steppeinvoice_bot</a:t>
            </a:r>
            <a:endParaRPr lang="en-US" sz="1200" dirty="0"/>
          </a:p>
        </p:txBody>
      </p:sp>
      <p:sp>
        <p:nvSpPr>
          <p:cNvPr id="14" name="frame-finance"/>
          <p:cNvSpPr/>
          <p:nvPr/>
        </p:nvSpPr>
        <p:spPr>
          <a:xfrm>
            <a:off x="5568696" y="1591056"/>
            <a:ext cx="6129223" cy="3937916"/>
          </a:xfrm>
          <a:prstGeom prst="roundRect">
            <a:avLst>
              <a:gd name="adj" fmla="val 1858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</p:sp>
      <p:pic>
        <p:nvPicPr>
          <p:cNvPr id="15" name="Image 0" descr="Страница Финансы и налоги: доход, налог, график по месяца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645920"/>
            <a:ext cx="6019495" cy="382818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23560" y="5656988"/>
            <a:ext cx="6019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Демо-данные. Оценка по режимам самозанятого и ИП на упрощёнке, ставки 2026 года, ближайшие сроки платежей. Это оценка, а не налоговая консультация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А если у клиента нет крипты?</a:t>
            </a:r>
            <a:endParaRPr lang="en-US" sz="3200" dirty="0"/>
          </a:p>
        </p:txBody>
      </p:sp>
      <p:sp>
        <p:nvSpPr>
          <p:cNvPr id="4" name="guide-1"/>
          <p:cNvSpPr/>
          <p:nvPr/>
        </p:nvSpPr>
        <p:spPr>
          <a:xfrm>
            <a:off x="548640" y="1737360"/>
            <a:ext cx="6949440" cy="932688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5" name="step-1"/>
          <p:cNvSpPr/>
          <p:nvPr/>
        </p:nvSpPr>
        <p:spPr>
          <a:xfrm>
            <a:off x="822960" y="1911096"/>
            <a:ext cx="585216" cy="58521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19110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1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8653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Установить Phantom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240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Приложение или расширение с официального сайта</a:t>
            </a:r>
            <a:endParaRPr lang="en-US" sz="1400" dirty="0"/>
          </a:p>
        </p:txBody>
      </p:sp>
      <p:sp>
        <p:nvSpPr>
          <p:cNvPr id="9" name="guide-2"/>
          <p:cNvSpPr/>
          <p:nvPr/>
        </p:nvSpPr>
        <p:spPr>
          <a:xfrm>
            <a:off x="548640" y="2816352"/>
            <a:ext cx="6949440" cy="932688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0" name="step-2"/>
          <p:cNvSpPr/>
          <p:nvPr/>
        </p:nvSpPr>
        <p:spPr>
          <a:xfrm>
            <a:off x="822960" y="2990088"/>
            <a:ext cx="585216" cy="58521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990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29443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Сохранить секретную фразу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33192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12 слов на бумаге, никому не показывать</a:t>
            </a:r>
            <a:endParaRPr lang="en-US" sz="1400" dirty="0"/>
          </a:p>
        </p:txBody>
      </p:sp>
      <p:sp>
        <p:nvSpPr>
          <p:cNvPr id="14" name="guide-3"/>
          <p:cNvSpPr/>
          <p:nvPr/>
        </p:nvSpPr>
        <p:spPr>
          <a:xfrm>
            <a:off x="548640" y="3895344"/>
            <a:ext cx="6949440" cy="932688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5" name="step-3"/>
          <p:cNvSpPr/>
          <p:nvPr/>
        </p:nvSpPr>
        <p:spPr>
          <a:xfrm>
            <a:off x="822960" y="4069080"/>
            <a:ext cx="585216" cy="58521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22960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1"/>
                </a:solidFill>
              </a:rPr>
              <a:t>3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40233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Пополнить SOL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691640" y="43982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Кнопка «Купить» в Phantom или лицензированная биржа</a:t>
            </a:r>
            <a:endParaRPr lang="en-US" sz="1400" dirty="0"/>
          </a:p>
        </p:txBody>
      </p:sp>
      <p:sp>
        <p:nvSpPr>
          <p:cNvPr id="19" name="guide-4"/>
          <p:cNvSpPr/>
          <p:nvPr/>
        </p:nvSpPr>
        <p:spPr>
          <a:xfrm>
            <a:off x="548640" y="4974336"/>
            <a:ext cx="6949440" cy="932688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20" name="step-4"/>
          <p:cNvSpPr/>
          <p:nvPr/>
        </p:nvSpPr>
        <p:spPr>
          <a:xfrm>
            <a:off x="822960" y="5148072"/>
            <a:ext cx="585216" cy="58521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1"/>
                </a:solidFill>
              </a:rPr>
              <a:t>4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691640" y="51023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Нажать «Оплатить»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691640" y="54772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Дальше любой счёт оплачивается в один клик</a:t>
            </a:r>
            <a:endParaRPr lang="en-US" sz="1400" dirty="0"/>
          </a:p>
        </p:txBody>
      </p:sp>
      <p:sp>
        <p:nvSpPr>
          <p:cNvPr id="24" name="no-card"/>
          <p:cNvSpPr/>
          <p:nvPr/>
        </p:nvSpPr>
        <p:spPr>
          <a:xfrm>
            <a:off x="7863840" y="1737360"/>
            <a:ext cx="3779215" cy="4206240"/>
          </a:xfrm>
          <a:prstGeom prst="roundRect">
            <a:avLst>
              <a:gd name="adj" fmla="val 2903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183880" y="2011680"/>
            <a:ext cx="3139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Прямой оплаты картой нет сознательно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8183880" y="2926080"/>
            <a:ext cx="31391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Платёжные системы берут свой процент и встают между клиентом и исполнителем. Здесь деньги идут напрямую, наша комиссия 1%. Покупку SOL и её комиссию показывает Phantom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183880" y="521208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Инструкция открывается прямо со страницы оплаты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Монетизация: 1% с оплаченного счёта</a:t>
            </a:r>
            <a:endParaRPr lang="en-US" sz="3200" dirty="0"/>
          </a:p>
        </p:txBody>
      </p:sp>
      <p:sp>
        <p:nvSpPr>
          <p:cNvPr id="4" name="model-1"/>
          <p:cNvSpPr/>
          <p:nvPr/>
        </p:nvSpPr>
        <p:spPr>
          <a:xfrm>
            <a:off x="548640" y="173736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" y="2011680"/>
            <a:ext cx="27837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1%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474720"/>
            <a:ext cx="27837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Только с оплаченного счёта. Не оплатили — не платят. Без подписки и платы за создание</a:t>
            </a:r>
            <a:endParaRPr lang="en-US" sz="1800" dirty="0"/>
          </a:p>
        </p:txBody>
      </p:sp>
      <p:sp>
        <p:nvSpPr>
          <p:cNvPr id="7" name="model-2"/>
          <p:cNvSpPr/>
          <p:nvPr/>
        </p:nvSpPr>
        <p:spPr>
          <a:xfrm>
            <a:off x="4338218" y="173736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703978" y="205740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Почему это устойчиво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703978" y="2697480"/>
            <a:ext cx="278373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Комиссия уходит в момент оплаты; в контракт её ещё надо зашить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Сеть берёт доли цента: затраты почти не растут с объёмом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Прозрачно для клиента и исполнителя</a:t>
            </a:r>
            <a:endParaRPr lang="en-US" sz="1600" dirty="0"/>
          </a:p>
        </p:txBody>
      </p:sp>
      <p:sp>
        <p:nvSpPr>
          <p:cNvPr id="10" name="model-3"/>
          <p:cNvSpPr/>
          <p:nvPr/>
        </p:nvSpPr>
        <p:spPr>
          <a:xfrm>
            <a:off x="8127797" y="173736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493557" y="205740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Дальше: гипотезы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493557" y="2697480"/>
            <a:ext cx="278373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Тариф «Финансы»: выгрузки для бухгалтера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Интеграции с учётными сервисами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Оплата в USDC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Риски: оборот пока тестовый; доход зависит от размера среднего счёта; по закону РК крипта не средство платежа, нужен юрист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Рынок и привлечение пользователей</a:t>
            </a:r>
            <a:endParaRPr lang="en-US" sz="3200" dirty="0"/>
          </a:p>
        </p:txBody>
      </p:sp>
      <p:sp>
        <p:nvSpPr>
          <p:cNvPr id="4" name="market-who"/>
          <p:cNvSpPr/>
          <p:nvPr/>
        </p:nvSpPr>
        <p:spPr>
          <a:xfrm>
            <a:off x="548640" y="1737360"/>
            <a:ext cx="448056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Кому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Фрилансеры, IT-аутсорс и малые команды в Казахстане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Те, кто получает оплату в крипте и делит её с напарниками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Потолок рынка: 1,2 млн ИП на упрощёнке и 346 тыс. самозанятых (не все получают крипту)</a:t>
            </a:r>
            <a:endParaRPr lang="en-US" sz="1500" dirty="0"/>
          </a:p>
        </p:txBody>
      </p:sp>
      <p:sp>
        <p:nvSpPr>
          <p:cNvPr id="7" name="channel-1"/>
          <p:cNvSpPr/>
          <p:nvPr/>
        </p:nvSpPr>
        <p:spPr>
          <a:xfrm>
            <a:off x="5257800" y="1737360"/>
            <a:ext cx="3063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8" name="badge-link"/>
          <p:cNvSpPr/>
          <p:nvPr/>
        </p:nvSpPr>
        <p:spPr>
          <a:xfrm>
            <a:off x="5532120" y="2011680"/>
            <a:ext cx="594360" cy="59436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9" name="Image 0" descr="l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10" y="216027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63640" y="20299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Каждый счёт — реклама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532120" y="2788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Ссылка с превью и кнопкой показывает продукт новому клиенту</a:t>
            </a:r>
            <a:endParaRPr lang="en-US" sz="1400" dirty="0"/>
          </a:p>
        </p:txBody>
      </p:sp>
      <p:sp>
        <p:nvSpPr>
          <p:cNvPr id="12" name="channel-2"/>
          <p:cNvSpPr/>
          <p:nvPr/>
        </p:nvSpPr>
        <p:spPr>
          <a:xfrm>
            <a:off x="8577072" y="1737360"/>
            <a:ext cx="3063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3" name="badge-tg"/>
          <p:cNvSpPr/>
          <p:nvPr/>
        </p:nvSpPr>
        <p:spPr>
          <a:xfrm>
            <a:off x="8851392" y="2011680"/>
            <a:ext cx="594360" cy="59436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t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9982" y="216027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582912" y="20299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Telegram как вход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8851392" y="2788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Бот и вход без пароля там, где люди уже общаются</a:t>
            </a:r>
            <a:endParaRPr lang="en-US" sz="1400" dirty="0"/>
          </a:p>
        </p:txBody>
      </p:sp>
      <p:sp>
        <p:nvSpPr>
          <p:cNvPr id="17" name="channel-3"/>
          <p:cNvSpPr/>
          <p:nvPr/>
        </p:nvSpPr>
        <p:spPr>
          <a:xfrm>
            <a:off x="5257800" y="4069080"/>
            <a:ext cx="3063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8" name="badge-globe"/>
          <p:cNvSpPr/>
          <p:nvPr/>
        </p:nvSpPr>
        <p:spPr>
          <a:xfrm>
            <a:off x="5532120" y="4343400"/>
            <a:ext cx="594360" cy="59436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glob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710" y="4491990"/>
            <a:ext cx="297180" cy="2971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63640" y="43616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Сообщества Solana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5532120" y="5120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Superteam и крипто-сообщества Казахстана и СНГ</a:t>
            </a:r>
            <a:endParaRPr lang="en-US" sz="1400" dirty="0"/>
          </a:p>
        </p:txBody>
      </p:sp>
      <p:sp>
        <p:nvSpPr>
          <p:cNvPr id="22" name="channel-4"/>
          <p:cNvSpPr/>
          <p:nvPr/>
        </p:nvSpPr>
        <p:spPr>
          <a:xfrm>
            <a:off x="8577072" y="4069080"/>
            <a:ext cx="3063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23" name="badge-flag"/>
          <p:cNvSpPr/>
          <p:nvPr/>
        </p:nvSpPr>
        <p:spPr>
          <a:xfrm>
            <a:off x="8851392" y="4343400"/>
            <a:ext cx="594360" cy="594360"/>
          </a:xfrm>
          <a:prstGeom prst="ellipse">
            <a:avLst/>
          </a:prstGeom>
          <a:solidFill>
            <a:schemeClr val="tx1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fla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9982" y="4491990"/>
            <a:ext cx="297180" cy="2971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582912" y="43616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Три языка и соседи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8851392" y="5120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RU, KZ, EN. Дальше Узбекистан и Кыргызстан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Что работает сегодня и что дальше</a:t>
            </a:r>
            <a:endParaRPr lang="en-US" sz="3200" dirty="0"/>
          </a:p>
        </p:txBody>
      </p:sp>
      <p:sp>
        <p:nvSpPr>
          <p:cNvPr id="4" name="done"/>
          <p:cNvSpPr/>
          <p:nvPr/>
        </p:nvSpPr>
        <p:spPr>
          <a:xfrm>
            <a:off x="548640" y="1737360"/>
            <a:ext cx="6035040" cy="41148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Работает сегодня</a:t>
            </a:r>
            <a:endParaRPr lang="en-US" sz="2200" dirty="0"/>
          </a:p>
        </p:txBody>
      </p:sp>
      <p:pic>
        <p:nvPicPr>
          <p:cNvPr id="6" name="Image 0" descr="готов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87752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Смарт-контракт Solana с атомарным сплитом</a:t>
            </a:r>
            <a:endParaRPr lang="en-US" sz="1600" dirty="0"/>
          </a:p>
        </p:txBody>
      </p:sp>
      <p:pic>
        <p:nvPicPr>
          <p:cNvPr id="8" name="Image 1" descr="готов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18104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71600" y="3090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Сайт на трёх языках: RU, KZ, EN</a:t>
            </a:r>
            <a:endParaRPr lang="en-US" sz="1600" dirty="0"/>
          </a:p>
        </p:txBody>
      </p:sp>
      <p:pic>
        <p:nvPicPr>
          <p:cNvPr id="10" name="Image 2" descr="готов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4845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71600" y="3621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Telegram-бот: весь путь за один тап</a:t>
            </a:r>
            <a:endParaRPr lang="en-US" sz="1600" dirty="0"/>
          </a:p>
        </p:txBody>
      </p:sp>
      <p:pic>
        <p:nvPicPr>
          <p:cNvPr id="12" name="Image 3" descr="готов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78808"/>
            <a:ext cx="274320" cy="2743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71600" y="41513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Акт выполненных работ с QR-печатью</a:t>
            </a:r>
            <a:endParaRPr lang="en-US" sz="1600" dirty="0"/>
          </a:p>
        </p:txBody>
      </p:sp>
      <p:pic>
        <p:nvPicPr>
          <p:cNvPr id="14" name="Image 4" descr="готов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0916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37160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Финансы и налоги РК на 2026 год</a:t>
            </a:r>
            <a:endParaRPr lang="en-US" sz="1600" dirty="0"/>
          </a:p>
        </p:txBody>
      </p:sp>
      <p:pic>
        <p:nvPicPr>
          <p:cNvPr id="16" name="Image 5" descr="готов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39512"/>
            <a:ext cx="274320" cy="27432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37160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34 автотеста, сборка проходит</a:t>
            </a:r>
            <a:endParaRPr lang="en-US" sz="1600" dirty="0"/>
          </a:p>
        </p:txBody>
      </p:sp>
      <p:sp>
        <p:nvSpPr>
          <p:cNvPr id="18" name="next"/>
          <p:cNvSpPr/>
          <p:nvPr/>
        </p:nvSpPr>
        <p:spPr>
          <a:xfrm>
            <a:off x="6903720" y="1737360"/>
            <a:ext cx="4739335" cy="41148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9525">
            <a:solidFill>
              <a:srgbClr val="262C34"/>
            </a:solidFill>
            <a:prstDash val="solid"/>
          </a:ln>
        </p:spPr>
        <p:txBody>
          <a:bodyPr/>
          <a:p/>
        </p:txBody>
      </p:sp>
      <p:sp>
        <p:nvSpPr>
          <p:cNvPr id="19" name="Text 10"/>
          <p:cNvSpPr txBox="1"/>
          <p:nvPr/>
        </p:nvSpPr>
        <p:spPr>
          <a:xfrm>
            <a:off x="7269480" y="1965960"/>
            <a:ext cx="4007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Дальше</a:t>
            </a:r>
            <a:endParaRPr lang="en-US" sz="2200" dirty="0"/>
          </a:p>
        </p:txBody>
      </p:sp>
      <p:pic>
        <p:nvPicPr>
          <p:cNvPr id="20" name="Image 6" descr="дальш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633472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726680" y="2606040"/>
            <a:ext cx="3550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Основная сеть: контракт и реальные платежи</a:t>
            </a:r>
            <a:endParaRPr lang="en-US" sz="1600" dirty="0"/>
          </a:p>
        </p:txBody>
      </p:sp>
      <p:pic>
        <p:nvPicPr>
          <p:cNvPr id="22" name="Image 7" descr="дальш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410712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7726680" y="3383280"/>
            <a:ext cx="3550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Комиссия 1% на уровне контракта</a:t>
            </a:r>
            <a:endParaRPr lang="en-US" sz="1600" dirty="0"/>
          </a:p>
        </p:txBody>
      </p:sp>
      <p:pic>
        <p:nvPicPr>
          <p:cNvPr id="24" name="Image 8" descr="дальш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187952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7726680" y="4160520"/>
            <a:ext cx="3550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Оплата в USDC</a:t>
            </a:r>
            <a:endParaRPr lang="en-US" sz="1600" dirty="0"/>
          </a:p>
        </p:txBody>
      </p:sp>
      <p:pic>
        <p:nvPicPr>
          <p:cNvPr id="26" name="Image 9" descr="дальш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965192"/>
            <a:ext cx="274320" cy="274320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7726680" y="4937760"/>
            <a:ext cx="3550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Заключение юриста и аудит</a:t>
            </a:r>
            <a:endParaRPr lang="en-US" sz="1600" dirty="0"/>
          </a:p>
        </p:txBody>
      </p:sp>
      <p:sp>
        <p:nvSpPr>
          <p:cNvPr id="28" name="Text 15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Сейчас всё работает в тестовой сети (devnet)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Попробуйте за минуту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830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Откройте бота и нажмите «Попробовать в тестовой сети». Бот пройдёт весь путь за вас, ничего устанавливать не нужно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steppe-invoice-delta.vercel.app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@steppeinvoice_bot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9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Omargaly Bitebayev</a:t>
            </a:r>
            <a:endParaRPr lang="en-US" sz="1600" dirty="0"/>
          </a:p>
        </p:txBody>
      </p:sp>
      <p:sp>
        <p:nvSpPr>
          <p:cNvPr id="8" name="qr-frame-Сайт"/>
          <p:cNvSpPr/>
          <p:nvPr/>
        </p:nvSpPr>
        <p:spPr>
          <a:xfrm>
            <a:off x="6217920" y="1783080"/>
            <a:ext cx="2514600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262C34"/>
            </a:solidFill>
            <a:prstDash val="solid"/>
          </a:ln>
        </p:spPr>
      </p:sp>
      <p:pic>
        <p:nvPicPr>
          <p:cNvPr id="9" name="Image 0" descr="QR-код: Сай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2240280" cy="2240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17920" y="4480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Сайт</a:t>
            </a:r>
            <a:endParaRPr lang="en-US" sz="1600" dirty="0"/>
          </a:p>
        </p:txBody>
      </p:sp>
      <p:sp>
        <p:nvSpPr>
          <p:cNvPr id="11" name="qr-frame-Telegram-бот"/>
          <p:cNvSpPr/>
          <p:nvPr/>
        </p:nvSpPr>
        <p:spPr>
          <a:xfrm>
            <a:off x="8961120" y="1783080"/>
            <a:ext cx="2514600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262C34"/>
            </a:solidFill>
            <a:prstDash val="solid"/>
          </a:ln>
        </p:spPr>
      </p:sp>
      <p:pic>
        <p:nvPicPr>
          <p:cNvPr id="12" name="Image 1" descr="QR-код: Telegram-бо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920240"/>
            <a:ext cx="2240280" cy="22402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61120" y="4480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Telegram-бот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ppeInvoice">
  <a:themeElements>
    <a:clrScheme name="SteppeInvoice">
      <a:dk1>
        <a:srgbClr val="0F1216"/>
      </a:dk1>
      <a:lt1>
        <a:srgbClr val="E9E7E2"/>
      </a:lt1>
      <a:dk2>
        <a:srgbClr val="151A20"/>
      </a:dk2>
      <a:lt2>
        <a:srgbClr val="9A9DA3"/>
      </a:lt2>
      <a:accent1>
        <a:srgbClr val="8FB5A6"/>
      </a:accent1>
      <a:accent2>
        <a:srgbClr val="C7B186"/>
      </a:accent2>
      <a:accent3>
        <a:srgbClr val="8BA3C1"/>
      </a:accent3>
      <a:accent4>
        <a:srgbClr val="CF8F8F"/>
      </a:accent4>
      <a:accent5>
        <a:srgbClr val="A39CC2"/>
      </a:accent5>
      <a:accent6>
        <a:srgbClr val="6F9A8B"/>
      </a:accent6>
      <a:hlink>
        <a:srgbClr val="8FB5A6"/>
      </a:hlink>
      <a:folHlink>
        <a:srgbClr val="A39CC2"/>
      </a:folHlink>
    </a:clrScheme>
    <a:fontScheme name="SteppeInvo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1693</Words>
  <Application>Microsoft Office PowerPoint</Application>
  <PresentationFormat>Широкоэкранный</PresentationFormat>
  <Paragraphs>186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SteppeInvoice</vt:lpstr>
      <vt:lpstr>SteppeInvoice</vt:lpstr>
      <vt:lpstr>Я начал проект, чтобы проверить свои силы</vt:lpstr>
      <vt:lpstr>Перевод — это только начало</vt:lpstr>
      <vt:lpstr>Люди в Казахстане начали считать налоги</vt:lpstr>
      <vt:lpstr>Адрес — это перевод. Счёт — это процесс</vt:lpstr>
      <vt:lpstr>Как это работает</vt:lpstr>
      <vt:lpstr>Рабочий продукт: от счёта до акта</vt:lpstr>
      <vt:lpstr>Telegram-бот и налоги в одном месте</vt:lpstr>
      <vt:lpstr>А если у клиента нет крипты?</vt:lpstr>
      <vt:lpstr>Монетизация: 1% с оплаченного счёта</vt:lpstr>
      <vt:lpstr>Рынок и привлечение пользователей</vt:lpstr>
      <vt:lpstr>Что работает сегодня и что дальше</vt:lpstr>
      <vt:lpstr>Попробуйте за минуту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SteppeInvoice</dc:title>
  <dc:subject>Solana invoices with automatic split, Telegram bot and Kazakhstan tax estimate</dc:subject>
  <dc:creator>Omargaly Bitebayev</dc:creator>
  <cp:lastModifiedBy>Omargaly Bitebayev</cp:lastModifiedBy>
  <cp:revision>2</cp:revision>
  <dcterms:created xsi:type="dcterms:W3CDTF">2026-10-27T11:53:50Z</dcterms:created>
  <dcterms:modified xsi:type="dcterms:W3CDTF">2026-10-27T15:20:21Z</dcterms:modified>
</cp:coreProperties>
</file>