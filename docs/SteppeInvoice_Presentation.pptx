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2926080" cy="384048"/>
          </a:xfrm>
          <a:prstGeom prst="roundRect">
            <a:avLst/>
          </a:prstGeom>
          <a:solidFill>
            <a:srgbClr val="0C2319"/>
          </a:solidFill>
          <a:ln w="12700">
            <a:solidFill>
              <a:srgbClr val="14F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4F195"/>
                </a:solidFill>
                <a:latin typeface="Arial"/>
              </a:defRPr>
            </a:pPr>
            <a:r>
              <a:t>⚡ SOLANA DEVNET · LIVE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731520"/>
            <a:ext cx="2926080" cy="384048"/>
          </a:xfrm>
          <a:prstGeom prst="roundRect">
            <a:avLst/>
          </a:prstGeom>
          <a:solidFill>
            <a:srgbClr val="1C1032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7C3AED"/>
                </a:solidFill>
                <a:latin typeface="Arial"/>
              </a:defRPr>
            </a:pPr>
            <a:r>
              <a:t>SUPERTEAM KAZAKHSTAN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3F4F6"/>
                </a:solidFill>
                <a:latin typeface="Arial"/>
              </a:defRPr>
            </a:pPr>
            <a:r>
              <a:t>SteppeInvoice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E5FF"/>
                </a:solidFill>
                <a:latin typeface="Arial"/>
              </a:defRPr>
            </a:pPr>
            <a:r>
              <a:t>Инвойс в SOL с автоматическим сплитом на 3 кошелька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CA3AF"/>
                </a:solidFill>
                <a:latin typeface="Arial"/>
              </a:defRPr>
            </a:pPr>
            <a:r>
              <a:t>Простой некастодиальный инструмент: отправляй ссылку на оплату, получай SOL за 400 мс, делись долей с напарником смарт-контрактом в 1 транзакции и получай официальный Акт с QR-печатью.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2560320" cy="5943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4F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4F195"/>
                </a:solidFill>
                <a:latin typeface="Arial"/>
              </a:defRPr>
            </a:pPr>
            <a:r>
              <a:t>✓ 0% КОМИССИИ СЕРВИСА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5303520"/>
            <a:ext cx="2560320" cy="5943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C3AED"/>
                </a:solidFill>
                <a:latin typeface="Arial"/>
              </a:defRPr>
            </a:pPr>
            <a:r>
              <a:t>✓ АТОМАРНЫЙ СПЛИТ НА КОНТРАКТЕ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5303520"/>
            <a:ext cx="2560320" cy="5943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  <a:latin typeface="Arial"/>
              </a:defRPr>
            </a:pPr>
            <a:r>
              <a:t>✓ АКТ ВЫПОЛНЕННЫХ РАБОТ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5303520"/>
            <a:ext cx="2560320" cy="5943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  <a:latin typeface="Arial"/>
              </a:defRPr>
            </a:pPr>
            <a:r>
              <a:t>✓ ПОДДЕРЖКА SOLANA BLINKS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F195"/>
                </a:solidFill>
                <a:latin typeface="Arial"/>
              </a:defRPr>
            </a:pPr>
            <a:r>
              <a:t>РЕАЛЬНАЯ БОЛЬ ФРИЛАНСЕРОВ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В чем проблема совместной работы в крипте?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CA3AF"/>
                </a:solidFill>
                <a:latin typeface="Arial"/>
              </a:defRPr>
            </a:pPr>
            <a:r>
              <a:t>Рутина, человеческий фактор и отсутствие бухгалтерских документов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💸  Ручные переводы и повторные комиссии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Клиент платит одному человеку. Тот вручную переводит долю напарнику, теряя время на калькулятор и оплачивая комиссии сети повторно.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🤝  Человеческий фактор и недоверие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Вся сумма заказа аккумулируется у одного лица. Возникают риски задержек, разногласий и необходимость слепого доверия.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🏦  Сложность накоплений на налоги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Фрилансеру тяжело дисциплинированно откладывать 10-15% с каждого мелкого заказа в отдельную копилку или на налоги.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📄  Оплата есть — документов нет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Хеш транзакции в Solscan непонятен бухгалтеру. Нет официального первичного документа с суммой и датой для спокойной отчетности.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F195"/>
                </a:solidFill>
                <a:latin typeface="Arial"/>
              </a:defRPr>
            </a:pPr>
            <a:r>
              <a:t>ПРОСТОЙ И ПОНЯТНЫЙ ПРОЦЕСС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Как устроен SteppeInvoice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CA3AF"/>
                </a:solidFill>
                <a:latin typeface="Arial"/>
              </a:defRPr>
            </a:pPr>
            <a:r>
              <a:t>От создания счета до зачисления средств — 4 понятных шага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514600" cy="3840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F195"/>
                </a:solidFill>
                <a:latin typeface="Arial"/>
              </a:defRPr>
            </a:pPr>
            <a:r>
              <a:t>Шаг 1</a:t>
            </a:r>
          </a:p>
          <a:p>
            <a:pPr>
              <a:spcBef>
                <a:spcPts val="1000"/>
              </a:spcBef>
              <a:defRPr sz="1600" b="1">
                <a:solidFill>
                  <a:srgbClr val="F3F4F6"/>
                </a:solidFill>
                <a:latin typeface="Arial"/>
              </a:defRPr>
            </a:pPr>
            <a:r>
              <a:t>Создание счета</a:t>
            </a:r>
          </a:p>
          <a:p>
            <a:pPr>
              <a:spcBef>
                <a:spcPts val="14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Указывается название задачи, сумма в SOL, кошелек напарника и проценты сплита.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194560"/>
            <a:ext cx="2514600" cy="3840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F195"/>
                </a:solidFill>
                <a:latin typeface="Arial"/>
              </a:defRPr>
            </a:pPr>
            <a:r>
              <a:t>Шаг 2</a:t>
            </a:r>
          </a:p>
          <a:p>
            <a:pPr>
              <a:spcBef>
                <a:spcPts val="1000"/>
              </a:spcBef>
              <a:defRPr sz="1600" b="1">
                <a:solidFill>
                  <a:srgbClr val="F3F4F6"/>
                </a:solidFill>
                <a:latin typeface="Arial"/>
              </a:defRPr>
            </a:pPr>
            <a:r>
              <a:t>Отправка ссылки</a:t>
            </a:r>
          </a:p>
          <a:p>
            <a:pPr>
              <a:spcBef>
                <a:spcPts val="14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Сервис дает прямую веб-ссылку и ссылку Solana Blink для оплаты прямо в соцсетях.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2514600" cy="3840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F195"/>
                </a:solidFill>
                <a:latin typeface="Arial"/>
              </a:defRPr>
            </a:pPr>
            <a:r>
              <a:t>Шаг 3</a:t>
            </a:r>
          </a:p>
          <a:p>
            <a:pPr>
              <a:spcBef>
                <a:spcPts val="1000"/>
              </a:spcBef>
              <a:defRPr sz="1600" b="1">
                <a:solidFill>
                  <a:srgbClr val="F3F4F6"/>
                </a:solidFill>
                <a:latin typeface="Arial"/>
              </a:defRPr>
            </a:pPr>
            <a:r>
              <a:t>Оплата в 1 клик</a:t>
            </a:r>
          </a:p>
          <a:p>
            <a:pPr>
              <a:spcBef>
                <a:spcPts val="14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Заказчик подключает свой Phantom/Solflare и подтверждает платеж за 400 миллисекунд.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194560"/>
            <a:ext cx="2514600" cy="3840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F195"/>
                </a:solidFill>
                <a:latin typeface="Arial"/>
              </a:defRPr>
            </a:pPr>
            <a:r>
              <a:t>Шаг 4</a:t>
            </a:r>
          </a:p>
          <a:p>
            <a:pPr>
              <a:spcBef>
                <a:spcPts val="1000"/>
              </a:spcBef>
              <a:defRPr sz="1600" b="1">
                <a:solidFill>
                  <a:srgbClr val="F3F4F6"/>
                </a:solidFill>
                <a:latin typeface="Arial"/>
              </a:defRPr>
            </a:pPr>
            <a:r>
              <a:t>Атомарный расчет</a:t>
            </a:r>
          </a:p>
          <a:p>
            <a:pPr>
              <a:spcBef>
                <a:spcPts val="14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Смарт-контракт мгновенно начисляет доли на 3 адреса и выдает готовый Акт.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F195"/>
                </a:solidFill>
                <a:latin typeface="Arial"/>
              </a:defRPr>
            </a:pPr>
            <a:r>
              <a:t>ЯДРО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Атомарный сплит на 3 кошелька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CA3AF"/>
                </a:solidFill>
                <a:latin typeface="Arial"/>
              </a:defRPr>
            </a:pPr>
            <a:r>
              <a:t>Смарт-контракт делит входящий платеж в одной транзакции без посредников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57200"/>
          </a:xfrm>
          <a:prstGeom prst="round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9093707" cy="457200"/>
          </a:xfrm>
          <a:prstGeom prst="round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25228" y="2011680"/>
            <a:ext cx="1069848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95076" y="2011680"/>
            <a:ext cx="534924" cy="45720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3429000" cy="3383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4F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4F195"/>
                </a:solidFill>
                <a:latin typeface="Arial"/>
              </a:defRPr>
            </a:pPr>
            <a:r>
              <a:t>85% от суммы</a:t>
            </a:r>
          </a:p>
          <a:p>
            <a:pPr>
              <a:spcBef>
                <a:spcPts val="800"/>
              </a:spcBef>
              <a:defRPr sz="1500" b="1">
                <a:solidFill>
                  <a:srgbClr val="F3F4F6"/>
                </a:solidFill>
                <a:latin typeface="Arial"/>
              </a:defRPr>
            </a:pPr>
            <a:r>
              <a:t>1. Основной исполнитель</a:t>
            </a:r>
          </a:p>
          <a:p>
            <a:pPr>
              <a:spcBef>
                <a:spcPts val="12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Получает львиную долю оплаты на свой личный кошелек. Все округления (лампорты) всегда остаются у автора инвойса.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743200"/>
            <a:ext cx="3429000" cy="3383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Arial"/>
              </a:defRPr>
            </a:pPr>
            <a:r>
              <a:t>10% от суммы</a:t>
            </a:r>
          </a:p>
          <a:p>
            <a:pPr>
              <a:spcBef>
                <a:spcPts val="800"/>
              </a:spcBef>
              <a:defRPr sz="1500" b="1">
                <a:solidFill>
                  <a:srgbClr val="F3F4F6"/>
                </a:solidFill>
                <a:latin typeface="Arial"/>
              </a:defRPr>
            </a:pPr>
            <a:r>
              <a:t>2. Кошелек-копилка (Vault)</a:t>
            </a:r>
          </a:p>
          <a:p>
            <a:pPr>
              <a:spcBef>
                <a:spcPts val="12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Автоматически откладывает заданный процент (на налоги или в накопления) на отдельный безопасный кошелек.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743200"/>
            <a:ext cx="3429000" cy="3383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E5FF"/>
                </a:solidFill>
                <a:latin typeface="Arial"/>
              </a:defRPr>
            </a:pPr>
            <a:r>
              <a:t>5% от суммы</a:t>
            </a:r>
          </a:p>
          <a:p>
            <a:pPr>
              <a:spcBef>
                <a:spcPts val="800"/>
              </a:spcBef>
              <a:defRPr sz="1500" b="1">
                <a:solidFill>
                  <a:srgbClr val="F3F4F6"/>
                </a:solidFill>
                <a:latin typeface="Arial"/>
              </a:defRPr>
            </a:pPr>
            <a:r>
              <a:t>3. Коллаборатор</a:t>
            </a:r>
          </a:p>
          <a:p>
            <a:pPr>
              <a:spcBef>
                <a:spcPts val="12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Напарник мгновенно получает свою оговоренную долю за дизайн или код без задержек и ручных переводов.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F195"/>
                </a:solidFill>
                <a:latin typeface="Arial"/>
              </a:defRPr>
            </a:pPr>
            <a:r>
              <a:t>ЮРИДИЧЕСКАЯ ОПОРА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Акт выполненных работ с QR-печатью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CA3AF"/>
                </a:solidFill>
                <a:latin typeface="Arial"/>
              </a:defRPr>
            </a:pPr>
            <a:r>
              <a:t>Первичный документ для отчетности, генерируемый в один клик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486400" cy="1920240"/>
          </a:xfrm>
          <a:prstGeom prst="round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📋 Официальные реквизиты и расчет курса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В документе фиксируются Исполнитель, Заказчик, предмет работ, сумма в SOL и расчетный эквивалент в тенге (KZT) по официальному курсу.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486400" cy="1920240"/>
          </a:xfrm>
          <a:prstGeom prst="round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🔍 Ончейн-печать (Solscan QR)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QR-код на бланке ведет напрямую на транзакцию в Solscan Explorer. Любой бухгалтер или аудитор может проверить факт и секунду закрытия сделки.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011680"/>
            <a:ext cx="48463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11827"/>
                </a:solidFill>
                <a:latin typeface="Arial"/>
              </a:defRPr>
            </a:pPr>
            <a:r>
              <a:t>АКТ ВЫПОЛНЕННЫХ РАБОТ № 0084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Исполнитель: Фрилансер (Solana Devnet)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Заказчик: Acme Inc. (Зарубежный клиент)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Предмет: Разработка интерфейса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ИТОГО К ОПЛАТЕ: 1.00 SOL (~75 000 ₸)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Статус расчета: ✓ ОПЛАЧЕНО В СЕТИ SOLANA (Сплит 3/3)</a:t>
            </a:r>
          </a:p>
          <a:p>
            <a:pPr>
              <a:spcBef>
                <a:spcPts val="6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Цифровая печать: QR Solscan Transaction Sealed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F195"/>
                </a:solidFill>
                <a:latin typeface="Arial"/>
              </a:defRPr>
            </a:pPr>
            <a:r>
              <a:t>РЕАЛИЗОВАННЫЙ ФУНКЦИОНАЛ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Что готово в проекте сегодня?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CA3AF"/>
                </a:solidFill>
                <a:latin typeface="Arial"/>
              </a:defRPr>
            </a:pPr>
            <a:r>
              <a:t>Полностью рабочий продукт на Solana Devnet без сторонних зависимостей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4F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🦀  Смарт-контракт на Rust (Anchor)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Инструкции создания инвойса, атомарной оплаты со сплитом и безопасной отмены инвойса создателем с возвратом ренты.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⚡  Поддержка Solana Blinks &amp; Actions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Готовые API-эндпоинты /api/actions/invoice/... для моментальной оплаты инвойса прямо из ленты соцсетей.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💻  Веб-приложение на Next.js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Удобный интерфейс: страница создания счета, карточка отправки ссылки и экран оплаты для заказчика.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212080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F4F6"/>
                </a:solidFill>
                <a:latin typeface="Arial"/>
              </a:defRPr>
            </a:pPr>
            <a:r>
              <a:t>🧪  Встроенный Демо-режим (5 кошельков)</a:t>
            </a:r>
          </a:p>
          <a:p>
            <a:pPr>
              <a:spcBef>
                <a:spcPts val="8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Страница /demo с готовыми ключами (Фрилансер, Клиенты, Копилка, Напарник). Тест полного цикла за 20 секунд без расширений!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